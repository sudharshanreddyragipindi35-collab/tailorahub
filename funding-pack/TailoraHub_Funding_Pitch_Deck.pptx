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300" b="1">
                <a:solidFill>
                  <a:srgbClr val="ECC34C"/>
                </a:solidFill>
                <a:latin typeface="Aptos"/>
              </a:rPr>
              <a:t>TAILORAHUB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6766560" cy="1143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500" b="1">
                <a:solidFill>
                  <a:srgbClr val="F5F2E8"/>
                </a:solidFill>
                <a:latin typeface="Aptos Display"/>
              </a:rPr>
              <a:t>A trusted operating system
for custom tailoring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606040"/>
            <a:ext cx="566928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Funding proposal and pilot approval deck | 14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40680"/>
            <a:ext cx="14173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ECC34C"/>
                </a:solidFill>
                <a:latin typeface="Aptos Display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824728"/>
            <a:ext cx="169164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80" b="1">
                <a:solidFill>
                  <a:srgbClr val="BEBEB8"/>
                </a:solidFill>
                <a:latin typeface="Aptos"/>
              </a:rPr>
              <a:t>Role-specific dashboards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5440680"/>
            <a:ext cx="14173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ECC34C"/>
                </a:solidFill>
                <a:latin typeface="Aptos Display"/>
              </a:rPr>
              <a:t>AWS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5824728"/>
            <a:ext cx="169164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80" b="1">
                <a:solidFill>
                  <a:srgbClr val="BEBEB8"/>
                </a:solidFill>
                <a:latin typeface="Aptos"/>
              </a:rPr>
              <a:t>Production path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440680"/>
            <a:ext cx="14173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ECC34C"/>
                </a:solidFill>
                <a:latin typeface="Aptos Display"/>
              </a:rPr>
              <a:t>OTP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824728"/>
            <a:ext cx="169164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80" b="1">
                <a:solidFill>
                  <a:srgbClr val="BEBEB8"/>
                </a:solidFill>
                <a:latin typeface="Aptos"/>
              </a:rPr>
              <a:t>Payment-gated handover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0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50" b="1">
                <a:solidFill>
                  <a:srgbClr val="ECC34C"/>
                </a:solidFill>
                <a:latin typeface="Aptos"/>
              </a:rPr>
              <a:t>INVESTMENT THESIS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621792" cy="18288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7132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5F2E8"/>
                </a:solidFill>
                <a:latin typeface="Aptos Display"/>
              </a:rPr>
              <a:t>TailoraHub turns informal tailoring into a governed digital service.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7132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The product is not only a booking screen: it is a trusted system for discovery, location, payment, tracking, fulfillment, reviews, and platform finance.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148840"/>
            <a:ext cx="3200400" cy="182880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258568"/>
            <a:ext cx="28712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Customers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651760"/>
            <a:ext cx="2871216" cy="1261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Find nearby verified tailors, compare services/prices, book with exact location, track orders, pay, confirm handover, and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148840"/>
            <a:ext cx="3200400" cy="18288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258568"/>
            <a:ext cx="28712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Tailors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651760"/>
            <a:ext cx="2871216" cy="1261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Operate profile, availability, services, media, offers, followers, requests, queue, orders, wallet, and withdrawals.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148840"/>
            <a:ext cx="3200400" cy="18288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2258568"/>
            <a:ext cx="28712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Admins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651760"/>
            <a:ext cx="2871216" cy="1261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Approve, manage, audit, resolve disputes, monitor finance, configure platform settings, and manage referral trees.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8288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50" b="1">
                <a:solidFill>
                  <a:srgbClr val="F5F2E8"/>
                </a:solidFill>
                <a:latin typeface="Aptos"/>
              </a:rPr>
              <a:t>Trust infrastructure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5020056"/>
            <a:ext cx="4754880" cy="73152"/>
          </a:xfrm>
          <a:prstGeom prst="rect">
            <a:avLst/>
          </a:prstGeom>
          <a:solidFill>
            <a:srgbClr val="444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34640" y="5020056"/>
            <a:ext cx="4279392" cy="73152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18288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50" b="1">
                <a:solidFill>
                  <a:srgbClr val="F5F2E8"/>
                </a:solidFill>
                <a:latin typeface="Aptos"/>
              </a:rPr>
              <a:t>Operational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5385816"/>
            <a:ext cx="4754880" cy="73152"/>
          </a:xfrm>
          <a:prstGeom prst="rect">
            <a:avLst/>
          </a:prstGeom>
          <a:solidFill>
            <a:srgbClr val="444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834640" y="5385816"/>
            <a:ext cx="3899001" cy="73152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715000"/>
            <a:ext cx="182880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950" b="1">
                <a:solidFill>
                  <a:srgbClr val="F5F2E8"/>
                </a:solidFill>
                <a:latin typeface="Aptos"/>
              </a:rPr>
              <a:t>Monetization readiness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5751576"/>
            <a:ext cx="4754880" cy="73152"/>
          </a:xfrm>
          <a:prstGeom prst="rect">
            <a:avLst/>
          </a:prstGeom>
          <a:solidFill>
            <a:srgbClr val="444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834640" y="5751576"/>
            <a:ext cx="3613708" cy="73152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0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50" b="1">
                <a:solidFill>
                  <a:srgbClr val="ECC34C"/>
                </a:solidFill>
                <a:latin typeface="Aptos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621792" cy="18288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7132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5F2E8"/>
                </a:solidFill>
                <a:latin typeface="Aptos Display"/>
              </a:rPr>
              <a:t>Custom tailoring has high demand, but low digital trust.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7132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Customers and tailors still rely on calls, memory, manual status messages, unclear pricing, and informal payment/fulfillment handover.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1965960" cy="224028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258568"/>
            <a:ext cx="163677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51760"/>
            <a:ext cx="1636776" cy="1673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Hard to find reliable nearby specialists.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2148840"/>
            <a:ext cx="1965960" cy="224028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82112" y="2258568"/>
            <a:ext cx="163677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651760"/>
            <a:ext cx="1636776" cy="1673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No consistent approval, profile, or review trail.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148840"/>
            <a:ext cx="1965960" cy="224028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2258568"/>
            <a:ext cx="163677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Coordination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2392" y="2651760"/>
            <a:ext cx="1636776" cy="1673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Measurement, stitching, and delivery statuses are not structured.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0" y="2148840"/>
            <a:ext cx="1965960" cy="224028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62672" y="2258568"/>
            <a:ext cx="163677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Payments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62672" y="2651760"/>
            <a:ext cx="1636776" cy="1673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No protected payment-before-handover gate.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38360" y="2148840"/>
            <a:ext cx="1965960" cy="224028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02952" y="2258568"/>
            <a:ext cx="163677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Operations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02952" y="2651760"/>
            <a:ext cx="1636776" cy="16733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Admins lack finance, dispute, and audit controls.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400800"/>
            <a:ext cx="93268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740" b="0">
                <a:solidFill>
                  <a:srgbClr val="7E7E7A"/>
                </a:solidFill>
                <a:latin typeface="Aptos"/>
              </a:rPr>
              <a:t>Sources: IBEF textile industry overview; NPCI UPI product statistics; Udyam Registration portal.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0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50" b="1">
                <a:solidFill>
                  <a:srgbClr val="ECC34C"/>
                </a:solidFill>
                <a:latin typeface="Aptos"/>
              </a:rPr>
              <a:t>PLATFORM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621792" cy="18288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7132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5F2E8"/>
                </a:solidFill>
                <a:latin typeface="Aptos Display"/>
              </a:rPr>
              <a:t>Three dashboards connect through one transaction core.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7132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Each role has separate permissions and workflows, while every booking moves through the same trusted order, payment, OTP, and review spine.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34640"/>
            <a:ext cx="2286000" cy="11430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944368"/>
            <a:ext cx="19568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Customer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337560"/>
            <a:ext cx="1956816" cy="5760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Search, book, pay, OTP, feedback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2331720"/>
            <a:ext cx="2377440" cy="214884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1" y="2441448"/>
            <a:ext cx="204825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TailoraHub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2834639"/>
            <a:ext cx="2048256" cy="1581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Auth + RBAC
Booking engine
Tracker + OTP
Wallet ledger
Finance settings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2834640"/>
            <a:ext cx="2148840" cy="11430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5752" y="2944368"/>
            <a:ext cx="181965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Tailor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3337560"/>
            <a:ext cx="1819656" cy="5760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Services, orders, wallet, offers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4892040"/>
            <a:ext cx="2377440" cy="82296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5001768"/>
            <a:ext cx="204825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Admin console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56631" y="5394959"/>
            <a:ext cx="204825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Approvals, disputes, finance, audit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063240" y="3063240"/>
            <a:ext cx="1828800" cy="32004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269480" y="3063240"/>
            <a:ext cx="2011680" cy="32004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0760" y="4526280"/>
            <a:ext cx="0" cy="36576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0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50" b="1">
                <a:solidFill>
                  <a:srgbClr val="ECC34C"/>
                </a:solidFill>
                <a:latin typeface="Aptos"/>
              </a:rPr>
              <a:t>CUSTOMER JOURNEY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621792" cy="18288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7132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5F2E8"/>
                </a:solidFill>
                <a:latin typeface="Aptos Display"/>
              </a:rPr>
              <a:t>Discovery-to-delivery is built as a guided trust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7132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The customer can see profile proof, exact location, tracker stages, payment state, delivery OTP, and final feedback after completion.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788920"/>
            <a:ext cx="502920" cy="502920"/>
          </a:xfrm>
          <a:prstGeom prst="ellipse">
            <a:avLst/>
          </a:prstGeom>
          <a:solidFill>
            <a:srgbClr val="ECC34C"/>
          </a:solidFill>
          <a:ln w="1270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52928"/>
            <a:ext cx="50292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29000"/>
            <a:ext cx="100584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>
                <a:solidFill>
                  <a:srgbClr val="F5F2E8"/>
                </a:solidFill>
                <a:latin typeface="Aptos"/>
              </a:rPr>
              <a:t>Search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43584" y="3035808"/>
            <a:ext cx="658368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148840" y="2788920"/>
            <a:ext cx="502920" cy="502920"/>
          </a:xfrm>
          <a:prstGeom prst="ellipse">
            <a:avLst/>
          </a:prstGeom>
          <a:solidFill>
            <a:srgbClr val="252727"/>
          </a:solidFill>
          <a:ln w="1270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852928"/>
            <a:ext cx="50292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>
                <a:solidFill>
                  <a:srgbClr val="ECC34C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429000"/>
            <a:ext cx="100584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>
                <a:solidFill>
                  <a:srgbClr val="F5F2E8"/>
                </a:solidFill>
                <a:latin typeface="Aptos"/>
              </a:rPr>
              <a:t>Profile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60904" y="3035808"/>
            <a:ext cx="658368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566160" y="2788920"/>
            <a:ext cx="502920" cy="502920"/>
          </a:xfrm>
          <a:prstGeom prst="ellipse">
            <a:avLst/>
          </a:prstGeom>
          <a:solidFill>
            <a:srgbClr val="252727"/>
          </a:solidFill>
          <a:ln w="1270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2852928"/>
            <a:ext cx="50292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>
                <a:solidFill>
                  <a:srgbClr val="ECC34C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429000"/>
            <a:ext cx="100584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>
                <a:solidFill>
                  <a:srgbClr val="F5F2E8"/>
                </a:solidFill>
                <a:latin typeface="Aptos"/>
              </a:rPr>
              <a:t>Book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78224" y="3035808"/>
            <a:ext cx="658368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4983480" y="2788920"/>
            <a:ext cx="502920" cy="502920"/>
          </a:xfrm>
          <a:prstGeom prst="ellipse">
            <a:avLst/>
          </a:prstGeom>
          <a:solidFill>
            <a:srgbClr val="ECC34C"/>
          </a:solidFill>
          <a:ln w="1270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2852928"/>
            <a:ext cx="50292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429000"/>
            <a:ext cx="100584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>
                <a:solidFill>
                  <a:srgbClr val="F5F2E8"/>
                </a:solidFill>
                <a:latin typeface="Aptos"/>
              </a:rPr>
              <a:t>Map pin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95544" y="3035808"/>
            <a:ext cx="658368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0" y="2788920"/>
            <a:ext cx="502920" cy="502920"/>
          </a:xfrm>
          <a:prstGeom prst="ellipse">
            <a:avLst/>
          </a:prstGeom>
          <a:solidFill>
            <a:srgbClr val="252727"/>
          </a:solidFill>
          <a:ln w="1270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852928"/>
            <a:ext cx="50292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>
                <a:solidFill>
                  <a:srgbClr val="ECC34C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429000"/>
            <a:ext cx="100584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>
                <a:solidFill>
                  <a:srgbClr val="F5F2E8"/>
                </a:solidFill>
                <a:latin typeface="Aptos"/>
              </a:rPr>
              <a:t>Tracker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12864" y="3035808"/>
            <a:ext cx="658367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818120" y="2788920"/>
            <a:ext cx="502920" cy="502920"/>
          </a:xfrm>
          <a:prstGeom prst="ellipse">
            <a:avLst/>
          </a:prstGeom>
          <a:solidFill>
            <a:srgbClr val="252727"/>
          </a:solidFill>
          <a:ln w="1270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2852928"/>
            <a:ext cx="50292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>
                <a:solidFill>
                  <a:srgbClr val="ECC34C"/>
                </a:solidFill>
                <a:latin typeface="Apto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429000"/>
            <a:ext cx="100584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>
                <a:solidFill>
                  <a:srgbClr val="F5F2E8"/>
                </a:solidFill>
                <a:latin typeface="Aptos"/>
              </a:rPr>
              <a:t>Pay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330184" y="3035808"/>
            <a:ext cx="658368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9235440" y="2788920"/>
            <a:ext cx="502920" cy="502920"/>
          </a:xfrm>
          <a:prstGeom prst="ellipse">
            <a:avLst/>
          </a:prstGeom>
          <a:solidFill>
            <a:srgbClr val="ECC34C"/>
          </a:solidFill>
          <a:ln w="1270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2852928"/>
            <a:ext cx="50292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ptos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3429000"/>
            <a:ext cx="100584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>
                <a:solidFill>
                  <a:srgbClr val="F5F2E8"/>
                </a:solidFill>
                <a:latin typeface="Aptos"/>
              </a:rPr>
              <a:t>OTP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747504" y="3035808"/>
            <a:ext cx="658368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10652760" y="2788920"/>
            <a:ext cx="502920" cy="502920"/>
          </a:xfrm>
          <a:prstGeom prst="ellipse">
            <a:avLst/>
          </a:prstGeom>
          <a:solidFill>
            <a:srgbClr val="ECC34C"/>
          </a:solidFill>
          <a:ln w="1270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52760" y="2852928"/>
            <a:ext cx="50292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ptos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3429000"/>
            <a:ext cx="1005840" cy="3200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100" b="1">
                <a:solidFill>
                  <a:srgbClr val="F5F2E8"/>
                </a:solidFill>
                <a:latin typeface="Aptos"/>
              </a:rPr>
              <a:t>Feedback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4572000"/>
            <a:ext cx="3017520" cy="82296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" y="4681728"/>
            <a:ext cx="26883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Strict gate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8992" y="5074920"/>
            <a:ext cx="268833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Delivery OTP is generated only after payment_status == paid.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251960" y="4572000"/>
            <a:ext cx="3017520" cy="82296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6552" y="4681728"/>
            <a:ext cx="26883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Customer 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16552" y="5074920"/>
            <a:ext cx="268833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Feedback appears only after completion.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589520" y="4572000"/>
            <a:ext cx="3017520" cy="82296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54112" y="4681728"/>
            <a:ext cx="26883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Location accuracy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54112" y="5074920"/>
            <a:ext cx="268833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Booking-specific draggable pin.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0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50" b="1">
                <a:solidFill>
                  <a:srgbClr val="ECC34C"/>
                </a:solidFill>
                <a:latin typeface="Aptos"/>
              </a:rPr>
              <a:t>TAILOR OPERATING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621792" cy="18288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7132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5F2E8"/>
                </a:solidFill>
                <a:latin typeface="Aptos Display"/>
              </a:rPr>
              <a:t>Tailors get a digital storefront plus a daily workbench.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7132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The system gives tailors demand visibility and operational discipline without forcing them into a complex enterprise tool.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246120" cy="11430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67128"/>
            <a:ext cx="29169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Profile and media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560320"/>
            <a:ext cx="2916936" cy="5760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DP, cover, photos, videos, public proof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057400"/>
            <a:ext cx="3246120" cy="114300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167128"/>
            <a:ext cx="29169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Availability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560320"/>
            <a:ext cx="2916936" cy="5760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Available, few slots, busy, unavailable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2057400"/>
            <a:ext cx="3246120" cy="11430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2167128"/>
            <a:ext cx="29169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Services/pricing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560320"/>
            <a:ext cx="2916936" cy="5760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Blouse, shirt, pant, saree, combo, custom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11880"/>
            <a:ext cx="3246120" cy="11430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721608"/>
            <a:ext cx="29169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Orders and queue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114800"/>
            <a:ext cx="2916936" cy="5760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Requests, waiting list, tracker updates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611880"/>
            <a:ext cx="3246120" cy="11430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3721608"/>
            <a:ext cx="29169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Wallet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4114800"/>
            <a:ext cx="2916936" cy="5760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QR token, balance, withdrawals with OTP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611880"/>
            <a:ext cx="3246120" cy="11430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9912" y="3721608"/>
            <a:ext cx="29169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Followers/offers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4114800"/>
            <a:ext cx="2916936" cy="5760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In-app updates for customers who follow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0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50" b="1">
                <a:solidFill>
                  <a:srgbClr val="ECC34C"/>
                </a:solidFill>
                <a:latin typeface="Aptos"/>
              </a:rPr>
              <a:t>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621792" cy="18288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7132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5F2E8"/>
                </a:solidFill>
                <a:latin typeface="Aptos Display"/>
              </a:rPr>
              <a:t>The admin console makes the marketplace governable from day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7132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Funding does not only buy software screens; it funds the control layer needed to operate safely at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2514600" cy="237744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121408"/>
            <a:ext cx="21854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Approvals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14600"/>
            <a:ext cx="2185416" cy="18105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Tailor approval before public listing; customer/tailor management; role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011680"/>
            <a:ext cx="2514600" cy="237744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6472" y="2121408"/>
            <a:ext cx="21854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514600"/>
            <a:ext cx="2185416" cy="18105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Commission, GST/platform fee settings, admin wallet, transaction log, date filters.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2011680"/>
            <a:ext cx="2514600" cy="237744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1" y="2121408"/>
            <a:ext cx="21854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1" y="2514600"/>
            <a:ext cx="2185416" cy="18105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Disputes, complaints, support, audit trails, operational escalation.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2011680"/>
            <a:ext cx="2514600" cy="237744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37192" y="2121408"/>
            <a:ext cx="21854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Growth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37192" y="2514600"/>
            <a:ext cx="2185416" cy="18105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Referral trees, follower activity, offers, ratings, and pilot KPIs.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0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50" b="1">
                <a:solidFill>
                  <a:srgbClr val="ECC34C"/>
                </a:solidFill>
                <a:latin typeface="Aptos"/>
              </a:rPr>
              <a:t>TRUST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621792" cy="18288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7132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5F2E8"/>
                </a:solidFill>
                <a:latin typeface="Aptos Display"/>
              </a:rPr>
              <a:t>Payment-before-OTP protects both customer and tailor.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7132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The delivery OTP flow is server-enforced, so it cannot be bypassed by changing the frontend.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40280"/>
            <a:ext cx="1828800" cy="16002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50008"/>
            <a:ext cx="14996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43200"/>
            <a:ext cx="1499616" cy="10332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Order reaches ready_for_delivery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51760" y="3017520"/>
            <a:ext cx="320040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063240" y="2240280"/>
            <a:ext cx="1828800" cy="160020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27832" y="2350008"/>
            <a:ext cx="14996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Pay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2743200"/>
            <a:ext cx="1499616" cy="10332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Customer pays in-app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92040" y="3017520"/>
            <a:ext cx="320040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303520" y="2240280"/>
            <a:ext cx="1828800" cy="160020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68112" y="2350008"/>
            <a:ext cx="14996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OTP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2743200"/>
            <a:ext cx="1499616" cy="10332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Backend sends delivery OTP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0" y="3017520"/>
            <a:ext cx="320040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43800" y="2240280"/>
            <a:ext cx="1828800" cy="16002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08392" y="2350008"/>
            <a:ext cx="14996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2743200"/>
            <a:ext cx="1499616" cy="10332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Tailor verifies at handover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72600" y="3017520"/>
            <a:ext cx="320040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784080" y="2240280"/>
            <a:ext cx="1828800" cy="16002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48672" y="2350008"/>
            <a:ext cx="14996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Close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2743200"/>
            <a:ext cx="1499616" cy="103327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Order becomes completed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4846320"/>
            <a:ext cx="4754880" cy="86868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4956048"/>
            <a:ext cx="442569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After completion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" y="5349240"/>
            <a:ext cx="4425696" cy="3017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Tracker/OTP/update actions disappear from the tailor dashboard; customer can submit optional rating and feedback.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26480" y="4846320"/>
            <a:ext cx="4754880" cy="86868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2" y="4956048"/>
            <a:ext cx="442569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Auditability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5349240"/>
            <a:ext cx="4425696" cy="30175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Payment, OTP, stage updates, disputes, and wallet movements remain traceable.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0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50" b="1">
                <a:solidFill>
                  <a:srgbClr val="ECC34C"/>
                </a:solidFill>
                <a:latin typeface="Aptos"/>
              </a:rPr>
              <a:t>MAPS AND LOCATION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621792" cy="18288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7132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5F2E8"/>
                </a:solidFill>
                <a:latin typeface="Aptos Display"/>
              </a:rPr>
              <a:t>Rapido-style pin confirmation removes address ambiguity.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7132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Tailor location is fixed and customer home location is booking-specific, which keeps privacy and delivery accuracy in balance.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5577840" cy="3383280"/>
          </a:xfrm>
          <a:prstGeom prst="roundRect">
            <a:avLst/>
          </a:prstGeom>
          <a:solidFill>
            <a:srgbClr val="212424"/>
          </a:solidFill>
          <a:ln w="1270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2148840"/>
            <a:ext cx="18288" cy="2834640"/>
          </a:xfrm>
          <a:prstGeom prst="rect">
            <a:avLst/>
          </a:prstGeom>
          <a:solidFill>
            <a:srgbClr val="4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83080" y="2148840"/>
            <a:ext cx="18288" cy="2834640"/>
          </a:xfrm>
          <a:prstGeom prst="rect">
            <a:avLst/>
          </a:prstGeom>
          <a:solidFill>
            <a:srgbClr val="4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0" y="2148840"/>
            <a:ext cx="18288" cy="2834640"/>
          </a:xfrm>
          <a:prstGeom prst="rect">
            <a:avLst/>
          </a:prstGeom>
          <a:solidFill>
            <a:srgbClr val="4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2148840"/>
            <a:ext cx="18288" cy="2834640"/>
          </a:xfrm>
          <a:prstGeom prst="rect">
            <a:avLst/>
          </a:prstGeom>
          <a:solidFill>
            <a:srgbClr val="4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0" y="2148840"/>
            <a:ext cx="18288" cy="2834640"/>
          </a:xfrm>
          <a:prstGeom prst="rect">
            <a:avLst/>
          </a:prstGeom>
          <a:solidFill>
            <a:srgbClr val="4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92040" y="2148840"/>
            <a:ext cx="18288" cy="2834640"/>
          </a:xfrm>
          <a:prstGeom prst="rect">
            <a:avLst/>
          </a:prstGeom>
          <a:solidFill>
            <a:srgbClr val="4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79" y="2148840"/>
            <a:ext cx="18288" cy="2834640"/>
          </a:xfrm>
          <a:prstGeom prst="rect">
            <a:avLst/>
          </a:prstGeom>
          <a:solidFill>
            <a:srgbClr val="4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51560" y="2331720"/>
            <a:ext cx="4937760" cy="18288"/>
          </a:xfrm>
          <a:prstGeom prst="rect">
            <a:avLst/>
          </a:prstGeom>
          <a:solidFill>
            <a:srgbClr val="4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3017520"/>
            <a:ext cx="4937760" cy="18288"/>
          </a:xfrm>
          <a:prstGeom prst="rect">
            <a:avLst/>
          </a:prstGeom>
          <a:solidFill>
            <a:srgbClr val="4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3703320"/>
            <a:ext cx="4937760" cy="18288"/>
          </a:xfrm>
          <a:prstGeom prst="rect">
            <a:avLst/>
          </a:prstGeom>
          <a:solidFill>
            <a:srgbClr val="4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51560" y="4389120"/>
            <a:ext cx="4937760" cy="18288"/>
          </a:xfrm>
          <a:prstGeom prst="rect">
            <a:avLst/>
          </a:prstGeom>
          <a:solidFill>
            <a:srgbClr val="404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246120" y="3063240"/>
            <a:ext cx="502920" cy="502920"/>
          </a:xfrm>
          <a:prstGeom prst="ellipse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18688" y="3182112"/>
            <a:ext cx="548640" cy="10972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ptos"/>
              </a:rPr>
              <a:t>PIN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1965960"/>
            <a:ext cx="4297680" cy="100584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76872" y="2075688"/>
            <a:ext cx="396849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Tailor fixed location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6872" y="2468880"/>
            <a:ext cx="3968496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Stored once with controlled update flow; shared after booking.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3246120"/>
            <a:ext cx="4297680" cy="100584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76872" y="3355848"/>
            <a:ext cx="396849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Customer home location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6872" y="3749039"/>
            <a:ext cx="3968496" cy="43891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Captured per booking only when tailor visits customer.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2280" y="4526280"/>
            <a:ext cx="4297680" cy="82296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76872" y="4636008"/>
            <a:ext cx="396849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API protection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6872" y="5029200"/>
            <a:ext cx="3968496" cy="25603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Google key restricted by authorized website referrers.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0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50" b="1">
                <a:solidFill>
                  <a:srgbClr val="ECC34C"/>
                </a:solidFill>
                <a:latin typeface="Aptos"/>
              </a:rPr>
              <a:t>MONETIZATION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621792" cy="18288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7132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5F2E8"/>
                </a:solidFill>
                <a:latin typeface="Aptos Display"/>
              </a:rPr>
              <a:t>Revenue is built into the transaction workflow, not bolted on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7132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Admin-configurable percentages create a transparent finance engine for each completed order.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2834640" cy="201168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938528"/>
            <a:ext cx="250545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Tailor commission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2505456" cy="14447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Deducted from tailor wallet after completed delivery based on platform settings.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1828800"/>
            <a:ext cx="2834640" cy="201168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0791" y="1938528"/>
            <a:ext cx="250545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GST/platform charge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0791" y="2331720"/>
            <a:ext cx="2505456" cy="14447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Shown to the customer at payment time and logged separately in admin wallet transactions.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1828800"/>
            <a:ext cx="2834640" cy="201168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1938528"/>
            <a:ext cx="250545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Growth levers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5472" y="2331720"/>
            <a:ext cx="2505456" cy="144475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Premium profiles, featured offers, referral campaigns, boutique partnerships.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709160"/>
            <a:ext cx="14173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ECC34C"/>
                </a:solidFill>
                <a:latin typeface="Aptos Display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093208"/>
            <a:ext cx="169164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80" b="1">
                <a:solidFill>
                  <a:srgbClr val="BEBEB8"/>
                </a:solidFill>
                <a:latin typeface="Aptos"/>
              </a:rPr>
              <a:t>Settings-driven 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709160"/>
            <a:ext cx="14173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ECC34C"/>
                </a:solidFill>
                <a:latin typeface="Aptos Display"/>
              </a:rPr>
              <a:t>Ledger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5093208"/>
            <a:ext cx="169164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80" b="1">
                <a:solidFill>
                  <a:srgbClr val="BEBEB8"/>
                </a:solidFill>
                <a:latin typeface="Aptos"/>
              </a:rPr>
              <a:t>Traceable wallet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709160"/>
            <a:ext cx="14173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ECC34C"/>
                </a:solidFill>
                <a:latin typeface="Aptos Display"/>
              </a:rPr>
              <a:t>Reviews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5093208"/>
            <a:ext cx="169164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80" b="1">
                <a:solidFill>
                  <a:srgbClr val="BEBEB8"/>
                </a:solidFill>
                <a:latin typeface="Aptos"/>
              </a:rPr>
              <a:t>Quality flywheel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4709160"/>
            <a:ext cx="1417320" cy="4114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2200" b="1">
                <a:solidFill>
                  <a:srgbClr val="ECC34C"/>
                </a:solidFill>
                <a:latin typeface="Aptos Display"/>
              </a:rPr>
              <a:t>Referrals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093208"/>
            <a:ext cx="1691640" cy="25603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80" b="1">
                <a:solidFill>
                  <a:srgbClr val="BEBEB8"/>
                </a:solidFill>
                <a:latin typeface="Aptos"/>
              </a:rPr>
              <a:t>Low-cost acquisition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0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50" b="1">
                <a:solidFill>
                  <a:srgbClr val="ECC34C"/>
                </a:solidFill>
                <a:latin typeface="Aptos"/>
              </a:rPr>
              <a:t>TECHNOLOGY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621792" cy="18288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7132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5F2E8"/>
                </a:solidFill>
                <a:latin typeface="Aptos Display"/>
              </a:rPr>
              <a:t>The current deployment path is practical and investor-review ready.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7132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The build is separated by concern: React frontend, FastAPI backend, PostgreSQL database, HTTPS, and cloud-managed deployment surfaces.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2148840" cy="141732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50008"/>
            <a:ext cx="181965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React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743200"/>
            <a:ext cx="1819656" cy="850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Customer, tailor, admin dashboards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40" y="2926080"/>
            <a:ext cx="502920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657600" y="2240280"/>
            <a:ext cx="2148840" cy="141732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2191" y="2350008"/>
            <a:ext cx="181965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FastAPI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2743200"/>
            <a:ext cx="1819656" cy="850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RBAC APIs, OTP, booking, finance, wallet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06440" y="2926080"/>
            <a:ext cx="502920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0" y="2240280"/>
            <a:ext cx="2148840" cy="141732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350008"/>
            <a:ext cx="181965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743200"/>
            <a:ext cx="1819656" cy="850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Users, orders, wallets, referrals, feedback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9640" y="2926080"/>
            <a:ext cx="502920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0" y="2240280"/>
            <a:ext cx="2148840" cy="141732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08592" y="2350008"/>
            <a:ext cx="181965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AWS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08592" y="2743200"/>
            <a:ext cx="1819656" cy="8503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Amplify + EC2/Nginx + RDS + HTTPS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09160"/>
            <a:ext cx="9601200" cy="6858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818888"/>
            <a:ext cx="927201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Security posture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212080"/>
            <a:ext cx="9272016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Secrets outside code, HTTPS API, restricted Maps key, role-separated endpoints, OTP purpose separation, server-side payment gate.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0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50" b="1">
                <a:solidFill>
                  <a:srgbClr val="ECC34C"/>
                </a:solidFill>
                <a:latin typeface="Aptos"/>
              </a:rPr>
              <a:t>PILOT GTM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621792" cy="18288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7132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5F2E8"/>
                </a:solidFill>
                <a:latin typeface="Aptos Display"/>
              </a:rPr>
              <a:t>A city pilot can prove supply quality before broad acquisition spend.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7132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The strongest first wedge is a curated group of verified tailors with portfolio media, prices, availability, and first-order support.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286000"/>
            <a:ext cx="2240280" cy="150876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395728"/>
            <a:ext cx="191109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Onboard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88920"/>
            <a:ext cx="1911096" cy="9418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Verify and train tailors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40" y="2999232"/>
            <a:ext cx="502920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2286000"/>
            <a:ext cx="2240280" cy="150876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0752" y="2395728"/>
            <a:ext cx="191109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Activate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2788920"/>
            <a:ext cx="1911096" cy="9418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Profiles, media, services, offers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06440" y="2999232"/>
            <a:ext cx="502920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09360" y="2286000"/>
            <a:ext cx="2240280" cy="150876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73952" y="2395728"/>
            <a:ext cx="191109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Convert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788920"/>
            <a:ext cx="1911096" cy="9418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Search, maps, booking, payment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49640" y="2999232"/>
            <a:ext cx="502920" cy="0"/>
          </a:xfrm>
          <a:prstGeom prst="line">
            <a:avLst/>
          </a:prstGeom>
          <a:ln w="15240">
            <a:solidFill>
              <a:srgbClr val="ECC3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052560" y="2286000"/>
            <a:ext cx="2240280" cy="150876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7152" y="2395728"/>
            <a:ext cx="191109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Retain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2788920"/>
            <a:ext cx="1911096" cy="9418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Feedback, follow, referral, repeat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754880"/>
            <a:ext cx="3017520" cy="6858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864608"/>
            <a:ext cx="26883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Measure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5257800"/>
            <a:ext cx="2688336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Orders/tailor, completion rate, on-time rate, ratings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4754880"/>
            <a:ext cx="3017520" cy="6858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6552" y="4864608"/>
            <a:ext cx="26883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Improve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552" y="5257800"/>
            <a:ext cx="2688336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Support scripts, UI refinements, operational rules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754880"/>
            <a:ext cx="3017520" cy="68580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54112" y="4864608"/>
            <a:ext cx="26883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5257800"/>
            <a:ext cx="2688336" cy="11887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Area-by-area rollout and partner ecosystem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0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50" b="1">
                <a:solidFill>
                  <a:srgbClr val="ECC34C"/>
                </a:solidFill>
                <a:latin typeface="Aptos"/>
              </a:rPr>
              <a:t>FUNDING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621792" cy="18288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7132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5F2E8"/>
                </a:solidFill>
                <a:latin typeface="Aptos Display"/>
              </a:rPr>
              <a:t>Funding should move the product from working pilot to reliable operation.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7132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The ask is phased so officials can release support against concrete technical and operating milestones.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94560"/>
            <a:ext cx="2331720" cy="196596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04288"/>
            <a:ext cx="20025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0-30 days
Hardening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697480"/>
            <a:ext cx="2002536" cy="13990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QA, security, deployment, backups,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194560"/>
            <a:ext cx="2331720" cy="196596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304288"/>
            <a:ext cx="20025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31-90 days
Closed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697480"/>
            <a:ext cx="2002536" cy="13990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Tailor onboarding, first paid orders, support desk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94560"/>
            <a:ext cx="2331720" cy="196596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304288"/>
            <a:ext cx="20025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3-6 months
Market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697480"/>
            <a:ext cx="2002536" cy="13990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Referral campaigns, reviews, offers, admin reporting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194560"/>
            <a:ext cx="2331720" cy="196596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2304288"/>
            <a:ext cx="200253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6-12 months
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2697480"/>
            <a:ext cx="2002536" cy="13990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Partner network, mobile packaging, premium monetization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D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66760" y="0"/>
            <a:ext cx="3840480" cy="6858000"/>
          </a:xfrm>
          <a:prstGeom prst="rect">
            <a:avLst/>
          </a:prstGeom>
          <a:solidFill>
            <a:srgbClr val="0C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65760"/>
            <a:ext cx="2743200" cy="2286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950" b="1">
                <a:solidFill>
                  <a:srgbClr val="ECC34C"/>
                </a:solidFill>
                <a:latin typeface="Aptos"/>
              </a:rPr>
              <a:t>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58368"/>
            <a:ext cx="621792" cy="18288"/>
          </a:xfrm>
          <a:prstGeom prst="rect">
            <a:avLst/>
          </a:prstGeom>
          <a:solidFill>
            <a:srgbClr val="ECC3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713232"/>
            <a:ext cx="7132320" cy="8686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3000" b="1">
                <a:solidFill>
                  <a:srgbClr val="F5F2E8"/>
                </a:solidFill>
                <a:latin typeface="Aptos Display"/>
              </a:rPr>
              <a:t>Approve the funded pilot and turn TailoraHub into a repeatable local-commerce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713232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350" b="0">
                <a:solidFill>
                  <a:srgbClr val="BEBEB8"/>
                </a:solidFill>
                <a:latin typeface="Aptos"/>
              </a:rPr>
              <a:t>The project has the core software foundation. The next step is funded execution: harden, pilot, measure, and expand.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57400"/>
            <a:ext cx="3291840" cy="2194560"/>
          </a:xfrm>
          <a:prstGeom prst="roundRect">
            <a:avLst/>
          </a:prstGeom>
          <a:solidFill>
            <a:srgbClr val="352D18"/>
          </a:solidFill>
          <a:ln w="10160">
            <a:solidFill>
              <a:srgbClr val="ECC3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2167128"/>
            <a:ext cx="296265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ECC34C"/>
                </a:solidFill>
                <a:latin typeface="Aptos"/>
              </a:rPr>
              <a:t>Approve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560320"/>
            <a:ext cx="2962656" cy="16276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Phased funding envelope, pilot geography, operational owner, and integration budget.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057400"/>
            <a:ext cx="3291840" cy="219456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2167128"/>
            <a:ext cx="296265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560320"/>
            <a:ext cx="2962656" cy="16276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Verified tailor group, customer acquisition, support playbook, and admin operating cadence.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057400"/>
            <a:ext cx="3291840" cy="2194560"/>
          </a:xfrm>
          <a:prstGeom prst="roundRect">
            <a:avLst/>
          </a:prstGeom>
          <a:solidFill>
            <a:srgbClr val="1D1F1F"/>
          </a:solidFill>
          <a:ln w="10160">
            <a:solidFill>
              <a:srgbClr val="4C42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167128"/>
            <a:ext cx="2962656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F5F2E8"/>
                </a:solidFill>
                <a:latin typeface="Aptos"/>
              </a:rPr>
              <a:t>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560320"/>
            <a:ext cx="2962656" cy="1627631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030" b="0">
                <a:solidFill>
                  <a:srgbClr val="BEBEB8"/>
                </a:solidFill>
                <a:latin typeface="Aptos"/>
              </a:rPr>
              <a:t>Bookings, paid completions, ratings, repeat rate, disputes, wallet flow, commission.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4572000" cy="2743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1200" b="1">
                <a:solidFill>
                  <a:srgbClr val="ECC34C"/>
                </a:solidFill>
                <a:latin typeface="Aptos"/>
              </a:rPr>
              <a:t>tailorahub.com | api.tailorahub.com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00800"/>
            <a:ext cx="9326880" cy="20116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740" b="0">
                <a:solidFill>
                  <a:srgbClr val="7E7E7A"/>
                </a:solidFill>
                <a:latin typeface="Aptos"/>
              </a:rPr>
              <a:t>Sources: IBEF textile industry overview; NPCI UPI product statistics; Udyam Registration portal.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00800"/>
            <a:ext cx="320040" cy="1828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r>
              <a:rPr sz="850" b="1">
                <a:solidFill>
                  <a:srgbClr val="ECC34C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TailoraHub Funding Pitch Deck</dc:title>
  <dc:subject>Funding and pilot approval deck</dc:subject>
  <dc:creator>TailoraHub Project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